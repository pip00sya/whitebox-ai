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hiteBoxAI_5\whitebox-ai\public\textures\contour-hud.jpe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3232" y="45720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20" kern="0" dirty="0">
                <a:solidFill>
                  <a:srgbClr val="5F68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WBX-001 / ОБЛОЖКА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5992063" y="45720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20" kern="0" dirty="0">
                <a:solidFill>
                  <a:srgbClr val="5F68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NATIONAL FOUNDER CUP · 2026</a:t>
            </a:r>
            <a:endParaRPr lang="en-US" sz="1000" dirty="0"/>
          </a:p>
        </p:txBody>
      </p:sp>
      <p:pic>
        <p:nvPicPr>
          <p:cNvPr id="5" name="Image 1" descr="D:\WhiteBoxAI_5\deck\assets\cub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609344"/>
            <a:ext cx="3200400" cy="32004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13232" y="1920240"/>
            <a:ext cx="6766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spc="120" kern="0" dirty="0">
                <a:solidFill>
                  <a:srgbClr val="9AA3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ОБЪЯСНИМЫЙ ИИ ДЛЯ НАЙМА   ●   БЕЛЫЙ, НЕ ЧЁРНЫЙ</a:t>
            </a:r>
            <a:endParaRPr lang="en-US" sz="1150" dirty="0"/>
          </a:p>
        </p:txBody>
      </p:sp>
      <p:sp>
        <p:nvSpPr>
          <p:cNvPr id="7" name="Text 3"/>
          <p:cNvSpPr/>
          <p:nvPr/>
        </p:nvSpPr>
        <p:spPr>
          <a:xfrm>
            <a:off x="676656" y="2267712"/>
            <a:ext cx="71323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dirty="0">
                <a:solidFill>
                  <a:srgbClr val="F2F4F8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WHITEBOX</a:t>
            </a:r>
            <a:pPr indent="0" marL="0">
              <a:buNone/>
            </a:pPr>
            <a:r>
              <a:rPr lang="en-US" sz="6000" dirty="0">
                <a:solidFill>
                  <a:srgbClr val="B4BCC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AI</a:t>
            </a:r>
            <a:endParaRPr lang="en-US" sz="6000" dirty="0"/>
          </a:p>
        </p:txBody>
      </p:sp>
      <p:sp>
        <p:nvSpPr>
          <p:cNvPr id="8" name="Shape 4"/>
          <p:cNvSpPr/>
          <p:nvPr/>
        </p:nvSpPr>
        <p:spPr>
          <a:xfrm>
            <a:off x="713232" y="3310128"/>
            <a:ext cx="4663440" cy="29261"/>
          </a:xfrm>
          <a:prstGeom prst="rect">
            <a:avLst/>
          </a:prstGeom>
          <a:solidFill>
            <a:srgbClr val="E880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13232" y="3529584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AA3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Не очередной чёрный ящик, а </a:t>
            </a:r>
            <a:pPr indent="0" marL="0">
              <a:buNone/>
            </a:pPr>
            <a:r>
              <a:rPr lang="en-US" sz="2000" dirty="0">
                <a:solidFill>
                  <a:srgbClr val="F2F4F8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белый — в который видно.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713232" y="4041648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9AA3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Каждый балл объяснён. Каждое решение — за человеком. Каждое действие в аудите.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713232" y="4700016"/>
            <a:ext cx="1464869" cy="420624"/>
          </a:xfrm>
          <a:prstGeom prst="roundRect">
            <a:avLst>
              <a:gd name="adj" fmla="val 10870"/>
            </a:avLst>
          </a:prstGeom>
          <a:solidFill>
            <a:srgbClr val="07080A"/>
          </a:solidFill>
          <a:ln w="9525">
            <a:solidFill>
              <a:srgbClr val="242933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13232" y="4700016"/>
            <a:ext cx="146486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80" kern="0" dirty="0">
                <a:solidFill>
                  <a:srgbClr val="9AA3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ДРАЙВЕРЫ БАЛЛА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2324405" y="4700016"/>
            <a:ext cx="2060143" cy="420624"/>
          </a:xfrm>
          <a:prstGeom prst="roundRect">
            <a:avLst>
              <a:gd name="adj" fmla="val 10870"/>
            </a:avLst>
          </a:prstGeom>
          <a:solidFill>
            <a:srgbClr val="07080A"/>
          </a:solidFill>
          <a:ln w="9525">
            <a:solidFill>
              <a:srgbClr val="242933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2324405" y="4700016"/>
            <a:ext cx="206014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80" kern="0" dirty="0">
                <a:solidFill>
                  <a:srgbClr val="9AA3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ЦИТАТЫ-ДОКАЗАТЕЛЬСТВА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4530852" y="4700016"/>
            <a:ext cx="1634947" cy="420624"/>
          </a:xfrm>
          <a:prstGeom prst="roundRect">
            <a:avLst>
              <a:gd name="adj" fmla="val 10870"/>
            </a:avLst>
          </a:prstGeom>
          <a:solidFill>
            <a:srgbClr val="07080A"/>
          </a:solidFill>
          <a:ln w="9525">
            <a:solidFill>
              <a:srgbClr val="E8804F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530852" y="4700016"/>
            <a:ext cx="163494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80" kern="0" dirty="0">
                <a:solidFill>
                  <a:srgbClr val="E880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РЕШЕНИЕ ЧЕЛОВЕКА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6312103" y="4700016"/>
            <a:ext cx="1039673" cy="420624"/>
          </a:xfrm>
          <a:prstGeom prst="roundRect">
            <a:avLst>
              <a:gd name="adj" fmla="val 10870"/>
            </a:avLst>
          </a:prstGeom>
          <a:solidFill>
            <a:srgbClr val="07080A"/>
          </a:solidFill>
          <a:ln w="9525">
            <a:solidFill>
              <a:srgbClr val="242933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312103" y="4700016"/>
            <a:ext cx="103967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80" kern="0" dirty="0">
                <a:solidFill>
                  <a:srgbClr val="9AA3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АУДИТ-ЛОГ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713232" y="6016752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20" kern="0" dirty="0">
                <a:solidFill>
                  <a:srgbClr val="5F68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ЧЕЛОВЕК В КОНТУРЕ · ОБЯЗАТЕЛЬНО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6906463" y="601675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20" kern="0" dirty="0">
                <a:solidFill>
                  <a:srgbClr val="5F68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АЛМАТЫ, KZ ·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hiteBoxAI_5\whitebox-ai\public\textures\contour.jpeg">    </p:cNvPr>
          <p:cNvPicPr>
            <a:picLocks noChangeAspect="1"/>
          </p:cNvPicPr>
          <p:nvPr/>
        </p:nvPicPr>
        <p:blipFill>
          <a:blip r:embed="rId1">
            <a:alphaModFix amt="8000"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D:\WhiteBoxAI_5\deck\assets\cube-fla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420624"/>
            <a:ext cx="274320" cy="2743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115568" y="44805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20" kern="0" dirty="0">
                <a:solidFill>
                  <a:srgbClr val="9AA3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ПРОБЛЕМА</a:t>
            </a:r>
            <a:endParaRPr lang="en-US" sz="1000" dirty="0"/>
          </a:p>
        </p:txBody>
      </p:sp>
      <p:sp>
        <p:nvSpPr>
          <p:cNvPr id="5" name="Text 1"/>
          <p:cNvSpPr/>
          <p:nvPr/>
        </p:nvSpPr>
        <p:spPr>
          <a:xfrm>
            <a:off x="10381183" y="448056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20" kern="0" dirty="0">
                <a:solidFill>
                  <a:srgbClr val="5F68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Shape 2"/>
          <p:cNvSpPr/>
          <p:nvPr/>
        </p:nvSpPr>
        <p:spPr>
          <a:xfrm>
            <a:off x="713232" y="841248"/>
            <a:ext cx="10765231" cy="0"/>
          </a:xfrm>
          <a:prstGeom prst="line">
            <a:avLst/>
          </a:prstGeom>
          <a:noFill/>
          <a:ln w="12700">
            <a:solidFill>
              <a:srgbClr val="1B1F27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713232" y="1097280"/>
            <a:ext cx="1076523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944"/>
              </a:lnSpc>
              <a:buNone/>
            </a:pPr>
            <a:r>
              <a:rPr lang="en-US" sz="3400" dirty="0">
                <a:solidFill>
                  <a:srgbClr val="F2F4F8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Первичный отбор — самый дорогой</a:t>
            </a:r>
            <a:endParaRPr lang="en-US" sz="3400" dirty="0"/>
          </a:p>
          <a:p>
            <a:pPr indent="0" marL="0">
              <a:lnSpc>
                <a:spcPts val="3944"/>
              </a:lnSpc>
              <a:buNone/>
            </a:pPr>
            <a:r>
              <a:rPr lang="en-US" sz="3400" dirty="0">
                <a:solidFill>
                  <a:srgbClr val="F2F4F8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ручной этап найма</a:t>
            </a:r>
            <a:endParaRPr lang="en-US" sz="3400" dirty="0"/>
          </a:p>
        </p:txBody>
      </p:sp>
      <p:sp>
        <p:nvSpPr>
          <p:cNvPr id="8" name="Shape 4"/>
          <p:cNvSpPr/>
          <p:nvPr/>
        </p:nvSpPr>
        <p:spPr>
          <a:xfrm>
            <a:off x="713232" y="2670048"/>
            <a:ext cx="3454298" cy="1572768"/>
          </a:xfrm>
          <a:prstGeom prst="roundRect">
            <a:avLst>
              <a:gd name="adj" fmla="val 3488"/>
            </a:avLst>
          </a:prstGeom>
          <a:solidFill>
            <a:srgbClr val="101217"/>
          </a:solidFill>
          <a:ln w="9525">
            <a:solidFill>
              <a:srgbClr val="242933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969264" y="2871216"/>
            <a:ext cx="29970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dirty="0">
                <a:solidFill>
                  <a:srgbClr val="F2F4F8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45</a:t>
            </a:r>
            <a:pPr indent="0" marL="0">
              <a:buNone/>
            </a:pPr>
            <a:r>
              <a:rPr lang="en-US" sz="1400" dirty="0">
                <a:solidFill>
                  <a:srgbClr val="9AA3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дней</a:t>
            </a:r>
            <a:endParaRPr lang="en-US" sz="3300" dirty="0"/>
          </a:p>
        </p:txBody>
      </p:sp>
      <p:sp>
        <p:nvSpPr>
          <p:cNvPr id="10" name="Text 6"/>
          <p:cNvSpPr/>
          <p:nvPr/>
        </p:nvSpPr>
        <p:spPr>
          <a:xfrm>
            <a:off x="969264" y="3419856"/>
            <a:ext cx="29970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A3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средний срок закрытия вакансии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969264" y="3858768"/>
            <a:ext cx="29970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5F68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SHRM, данные 2025</a:t>
            </a:r>
            <a:endParaRPr lang="en-US" sz="800" dirty="0"/>
          </a:p>
        </p:txBody>
      </p:sp>
      <p:sp>
        <p:nvSpPr>
          <p:cNvPr id="12" name="Shape 8"/>
          <p:cNvSpPr/>
          <p:nvPr/>
        </p:nvSpPr>
        <p:spPr>
          <a:xfrm>
            <a:off x="4368698" y="2670048"/>
            <a:ext cx="3454298" cy="1572768"/>
          </a:xfrm>
          <a:prstGeom prst="roundRect">
            <a:avLst>
              <a:gd name="adj" fmla="val 3488"/>
            </a:avLst>
          </a:prstGeom>
          <a:solidFill>
            <a:srgbClr val="101217"/>
          </a:solidFill>
          <a:ln w="9525">
            <a:solidFill>
              <a:srgbClr val="242933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624730" y="2871216"/>
            <a:ext cx="29970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dirty="0">
                <a:solidFill>
                  <a:srgbClr val="F2F4F8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$4 129</a:t>
            </a:r>
            <a:endParaRPr lang="en-US" sz="3300" dirty="0"/>
          </a:p>
        </p:txBody>
      </p:sp>
      <p:sp>
        <p:nvSpPr>
          <p:cNvPr id="14" name="Text 10"/>
          <p:cNvSpPr/>
          <p:nvPr/>
        </p:nvSpPr>
        <p:spPr>
          <a:xfrm>
            <a:off x="4624730" y="3419856"/>
            <a:ext cx="29970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A3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средняя стоимость одного найма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4624730" y="3858768"/>
            <a:ext cx="29970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5F68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SHRM Benchmarking Report</a:t>
            </a:r>
            <a:endParaRPr lang="en-US" sz="800" dirty="0"/>
          </a:p>
        </p:txBody>
      </p:sp>
      <p:sp>
        <p:nvSpPr>
          <p:cNvPr id="16" name="Shape 12"/>
          <p:cNvSpPr/>
          <p:nvPr/>
        </p:nvSpPr>
        <p:spPr>
          <a:xfrm>
            <a:off x="8024165" y="2670048"/>
            <a:ext cx="3454298" cy="1572768"/>
          </a:xfrm>
          <a:prstGeom prst="roundRect">
            <a:avLst>
              <a:gd name="adj" fmla="val 3488"/>
            </a:avLst>
          </a:prstGeom>
          <a:solidFill>
            <a:srgbClr val="101217"/>
          </a:solidFill>
          <a:ln w="9525">
            <a:solidFill>
              <a:srgbClr val="242933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280197" y="2871216"/>
            <a:ext cx="29970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dirty="0">
                <a:solidFill>
                  <a:srgbClr val="F2F4F8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≈2 750 ₸</a:t>
            </a:r>
            <a:endParaRPr lang="en-US" sz="3300" dirty="0"/>
          </a:p>
        </p:txBody>
      </p:sp>
      <p:sp>
        <p:nvSpPr>
          <p:cNvPr id="18" name="Text 14"/>
          <p:cNvSpPr/>
          <p:nvPr/>
        </p:nvSpPr>
        <p:spPr>
          <a:xfrm>
            <a:off x="8280197" y="3419856"/>
            <a:ext cx="29970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A3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час работы рекрутера в Казахстане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8280197" y="3858768"/>
            <a:ext cx="29970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5F68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расчёт от средней з/п РК, БНС, I кв. 2026</a:t>
            </a:r>
            <a:endParaRPr lang="en-US" sz="800" dirty="0"/>
          </a:p>
        </p:txBody>
      </p:sp>
      <p:sp>
        <p:nvSpPr>
          <p:cNvPr id="20" name="Shape 16"/>
          <p:cNvSpPr/>
          <p:nvPr/>
        </p:nvSpPr>
        <p:spPr>
          <a:xfrm>
            <a:off x="713232" y="4800600"/>
            <a:ext cx="50292" cy="146304"/>
          </a:xfrm>
          <a:prstGeom prst="rect">
            <a:avLst/>
          </a:prstGeom>
          <a:solidFill>
            <a:srgbClr val="E8804F"/>
          </a:solidFill>
          <a:ln w="12700">
            <a:solidFill>
              <a:srgbClr val="E8804F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896112" y="4681728"/>
            <a:ext cx="1058235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9AA3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Рекрутер вручную проводит одинаковые первичные интервью и сравнивает кандидатов «на глаз» — результат нельзя ни проверить, ни воспроизвести, ни защитить перед кандидатом.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713232" y="5513832"/>
            <a:ext cx="50292" cy="146304"/>
          </a:xfrm>
          <a:prstGeom prst="rect">
            <a:avLst/>
          </a:prstGeom>
          <a:solidFill>
            <a:srgbClr val="E8804F"/>
          </a:solidFill>
          <a:ln w="12700">
            <a:solidFill>
              <a:srgbClr val="E8804F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896112" y="5394960"/>
            <a:ext cx="1058235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9AA3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ИИ в найм уже приходит — но как чёрный ящик: балл без объяснения. Это риск предвзятости, юридический риск и потеря доверия кандидата.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713232" y="6199632"/>
            <a:ext cx="1076523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5F68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Источники: SHRM Benchmarking Report (cost-per-hire, time-to-fill); Бюро национальной статистики РК, средняя з/п I кв. 2026 — 461 486 ₸ / 168 ч.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hiteBoxAI_5\whitebox-ai\public\textures\contour.jpeg">    </p:cNvPr>
          <p:cNvPicPr>
            <a:picLocks noChangeAspect="1"/>
          </p:cNvPicPr>
          <p:nvPr/>
        </p:nvPicPr>
        <p:blipFill>
          <a:blip r:embed="rId1">
            <a:alphaModFix amt="8000"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D:\WhiteBoxAI_5\deck\assets\cube-fla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420624"/>
            <a:ext cx="274320" cy="2743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115568" y="44805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20" kern="0" dirty="0">
                <a:solidFill>
                  <a:srgbClr val="9AA3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РЕШЕНИЕ</a:t>
            </a:r>
            <a:endParaRPr lang="en-US" sz="1000" dirty="0"/>
          </a:p>
        </p:txBody>
      </p:sp>
      <p:sp>
        <p:nvSpPr>
          <p:cNvPr id="5" name="Text 1"/>
          <p:cNvSpPr/>
          <p:nvPr/>
        </p:nvSpPr>
        <p:spPr>
          <a:xfrm>
            <a:off x="10381183" y="448056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20" kern="0" dirty="0">
                <a:solidFill>
                  <a:srgbClr val="5F68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00" dirty="0"/>
          </a:p>
        </p:txBody>
      </p:sp>
      <p:sp>
        <p:nvSpPr>
          <p:cNvPr id="6" name="Shape 2"/>
          <p:cNvSpPr/>
          <p:nvPr/>
        </p:nvSpPr>
        <p:spPr>
          <a:xfrm>
            <a:off x="713232" y="841248"/>
            <a:ext cx="10765231" cy="0"/>
          </a:xfrm>
          <a:prstGeom prst="line">
            <a:avLst/>
          </a:prstGeom>
          <a:noFill/>
          <a:ln w="12700">
            <a:solidFill>
              <a:srgbClr val="1B1F27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713232" y="1097280"/>
            <a:ext cx="1076523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944"/>
              </a:lnSpc>
              <a:buNone/>
            </a:pPr>
            <a:r>
              <a:rPr lang="en-US" sz="3400" dirty="0">
                <a:solidFill>
                  <a:srgbClr val="F2F4F8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ИИ структурирует информацию.</a:t>
            </a:r>
            <a:endParaRPr lang="en-US" sz="3400" dirty="0"/>
          </a:p>
          <a:p>
            <a:pPr indent="0" marL="0">
              <a:lnSpc>
                <a:spcPts val="3944"/>
              </a:lnSpc>
              <a:buNone/>
            </a:pPr>
            <a:r>
              <a:rPr lang="en-US" sz="3400" dirty="0">
                <a:solidFill>
                  <a:srgbClr val="F2F4F8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Решение принимает человек.</a:t>
            </a:r>
            <a:endParaRPr lang="en-US" sz="3400" dirty="0"/>
          </a:p>
        </p:txBody>
      </p:sp>
      <p:sp>
        <p:nvSpPr>
          <p:cNvPr id="8" name="Shape 4"/>
          <p:cNvSpPr/>
          <p:nvPr/>
        </p:nvSpPr>
        <p:spPr>
          <a:xfrm>
            <a:off x="713232" y="2670048"/>
            <a:ext cx="3310128" cy="2395728"/>
          </a:xfrm>
          <a:prstGeom prst="roundRect">
            <a:avLst>
              <a:gd name="adj" fmla="val 2290"/>
            </a:avLst>
          </a:prstGeom>
          <a:solidFill>
            <a:srgbClr val="101217"/>
          </a:solidFill>
          <a:ln w="9525">
            <a:solidFill>
              <a:srgbClr val="242933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969264" y="288950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E880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969264" y="3163824"/>
            <a:ext cx="27980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2F4F8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HR описывает вакансию словами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969264" y="3803904"/>
            <a:ext cx="279806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AA3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Обычный текст от руководителя → профиль, критерии оценки, план интервью и шкалы. Готово за минуту, всё редактируется.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242816" y="2670048"/>
            <a:ext cx="3310128" cy="2395728"/>
          </a:xfrm>
          <a:prstGeom prst="roundRect">
            <a:avLst>
              <a:gd name="adj" fmla="val 2290"/>
            </a:avLst>
          </a:prstGeom>
          <a:solidFill>
            <a:srgbClr val="101217"/>
          </a:solidFill>
          <a:ln w="9525">
            <a:solidFill>
              <a:srgbClr val="242933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498848" y="288950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E880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4498848" y="3163824"/>
            <a:ext cx="27980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2F4F8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Кандидат проходит интервью по коду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4498848" y="3803904"/>
            <a:ext cx="279806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AA3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Одинаковые вопросы для всех, запись и транскрипт с хеш-подписью. Есть текстовый режим — без потери в оценке.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7772400" y="2670048"/>
            <a:ext cx="3310128" cy="2395728"/>
          </a:xfrm>
          <a:prstGeom prst="roundRect">
            <a:avLst>
              <a:gd name="adj" fmla="val 2290"/>
            </a:avLst>
          </a:prstGeom>
          <a:solidFill>
            <a:srgbClr val="101217"/>
          </a:solidFill>
          <a:ln w="9525">
            <a:solidFill>
              <a:srgbClr val="242933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028432" y="288950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E880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8028432" y="3163824"/>
            <a:ext cx="27980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2F4F8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Рекрутер получает доказательства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8028432" y="3803904"/>
            <a:ext cx="279806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AA3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Балл по каждому критерию + цитата из ответа как обоснование + аудит-след. Финальное решение — только человек, с письменной причиной.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713232" y="6199632"/>
            <a:ext cx="1076523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5F68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Полный путь работает в продукте сегодня — он показан в демо на последнем слайде.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hiteBoxAI_5\whitebox-ai\public\textures\contour.jpeg">    </p:cNvPr>
          <p:cNvPicPr>
            <a:picLocks noChangeAspect="1"/>
          </p:cNvPicPr>
          <p:nvPr/>
        </p:nvPicPr>
        <p:blipFill>
          <a:blip r:embed="rId1">
            <a:alphaModFix amt="8000"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D:\WhiteBoxAI_5\deck\assets\cube-fla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420624"/>
            <a:ext cx="274320" cy="2743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115568" y="44805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20" kern="0" dirty="0">
                <a:solidFill>
                  <a:srgbClr val="9AA3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ЭКОНОМИКА КЛИЕНТА</a:t>
            </a:r>
            <a:endParaRPr lang="en-US" sz="1000" dirty="0"/>
          </a:p>
        </p:txBody>
      </p:sp>
      <p:sp>
        <p:nvSpPr>
          <p:cNvPr id="5" name="Text 1"/>
          <p:cNvSpPr/>
          <p:nvPr/>
        </p:nvSpPr>
        <p:spPr>
          <a:xfrm>
            <a:off x="10381183" y="448056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20" kern="0" dirty="0">
                <a:solidFill>
                  <a:srgbClr val="5F68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000" dirty="0"/>
          </a:p>
        </p:txBody>
      </p:sp>
      <p:sp>
        <p:nvSpPr>
          <p:cNvPr id="6" name="Shape 2"/>
          <p:cNvSpPr/>
          <p:nvPr/>
        </p:nvSpPr>
        <p:spPr>
          <a:xfrm>
            <a:off x="713232" y="841248"/>
            <a:ext cx="10765231" cy="0"/>
          </a:xfrm>
          <a:prstGeom prst="line">
            <a:avLst/>
          </a:prstGeom>
          <a:noFill/>
          <a:ln w="12700">
            <a:solidFill>
              <a:srgbClr val="1B1F27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713232" y="1097280"/>
            <a:ext cx="1076523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944"/>
              </a:lnSpc>
              <a:buNone/>
            </a:pPr>
            <a:r>
              <a:rPr lang="en-US" sz="3400" dirty="0">
                <a:solidFill>
                  <a:srgbClr val="F2F4F8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Считаем на одном кандидате</a:t>
            </a:r>
            <a:endParaRPr lang="en-US" sz="3400" dirty="0"/>
          </a:p>
        </p:txBody>
      </p:sp>
      <p:sp>
        <p:nvSpPr>
          <p:cNvPr id="8" name="Shape 4"/>
          <p:cNvSpPr/>
          <p:nvPr/>
        </p:nvSpPr>
        <p:spPr>
          <a:xfrm>
            <a:off x="713232" y="2670048"/>
            <a:ext cx="3310128" cy="2121408"/>
          </a:xfrm>
          <a:prstGeom prst="roundRect">
            <a:avLst>
              <a:gd name="adj" fmla="val 2586"/>
            </a:avLst>
          </a:prstGeom>
          <a:solidFill>
            <a:srgbClr val="101217"/>
          </a:solidFill>
          <a:ln w="9525">
            <a:solidFill>
              <a:srgbClr val="242933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969264" y="288950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20" kern="0" dirty="0">
                <a:solidFill>
                  <a:srgbClr val="9AA3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СЕЙЧАС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969264" y="3236976"/>
            <a:ext cx="2798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1 375 ₸</a:t>
            </a:r>
            <a:endParaRPr lang="en-US" sz="3000" dirty="0"/>
          </a:p>
        </p:txBody>
      </p:sp>
      <p:sp>
        <p:nvSpPr>
          <p:cNvPr id="11" name="Text 7"/>
          <p:cNvSpPr/>
          <p:nvPr/>
        </p:nvSpPr>
        <p:spPr>
          <a:xfrm>
            <a:off x="969264" y="3858768"/>
            <a:ext cx="27980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A3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 минут рекрутера на первичное интервью, заметки и сравнение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4242816" y="2670048"/>
            <a:ext cx="3310128" cy="2121408"/>
          </a:xfrm>
          <a:prstGeom prst="roundRect">
            <a:avLst>
              <a:gd name="adj" fmla="val 2586"/>
            </a:avLst>
          </a:prstGeom>
          <a:solidFill>
            <a:srgbClr val="101217"/>
          </a:solidFill>
          <a:ln w="9525">
            <a:solidFill>
              <a:srgbClr val="242933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498848" y="288950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20" kern="0" dirty="0">
                <a:solidFill>
                  <a:srgbClr val="9AA3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С WHITEBOX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4498848" y="3236976"/>
            <a:ext cx="2798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580 ₸</a:t>
            </a:r>
            <a:endParaRPr lang="en-US" sz="3000" dirty="0"/>
          </a:p>
        </p:txBody>
      </p:sp>
      <p:sp>
        <p:nvSpPr>
          <p:cNvPr id="15" name="Text 11"/>
          <p:cNvSpPr/>
          <p:nvPr/>
        </p:nvSpPr>
        <p:spPr>
          <a:xfrm>
            <a:off x="4498848" y="3858768"/>
            <a:ext cx="27980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A3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минут на проверку scorecard (230 ₸)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A3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+ 350 ₸ за прогон кандидата — это наша выручка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7772400" y="2670048"/>
            <a:ext cx="3310128" cy="2121408"/>
          </a:xfrm>
          <a:prstGeom prst="roundRect">
            <a:avLst>
              <a:gd name="adj" fmla="val 2586"/>
            </a:avLst>
          </a:prstGeom>
          <a:solidFill>
            <a:srgbClr val="12161F"/>
          </a:solidFill>
          <a:ln w="9525">
            <a:solidFill>
              <a:srgbClr val="6B3A22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028432" y="288950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20" kern="0" dirty="0">
                <a:solidFill>
                  <a:srgbClr val="E880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ЭКОНОМИЯ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8028432" y="3236976"/>
            <a:ext cx="2798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795 ₸</a:t>
            </a:r>
            <a:pPr indent="0" marL="0">
              <a:buNone/>
            </a:pPr>
            <a:r>
              <a:rPr lang="en-US" sz="1500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−58%</a:t>
            </a:r>
            <a:endParaRPr lang="en-US" sz="3000" dirty="0"/>
          </a:p>
        </p:txBody>
      </p:sp>
      <p:sp>
        <p:nvSpPr>
          <p:cNvPr id="19" name="Text 15"/>
          <p:cNvSpPr/>
          <p:nvPr/>
        </p:nvSpPr>
        <p:spPr>
          <a:xfrm>
            <a:off x="8028432" y="3858768"/>
            <a:ext cx="27980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A3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на каждом кандидате — и сопоставимая, проверяемая оценка вместо впечатления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713232" y="5047488"/>
            <a:ext cx="10765231" cy="1188720"/>
          </a:xfrm>
          <a:prstGeom prst="roundRect">
            <a:avLst>
              <a:gd name="adj" fmla="val 4615"/>
            </a:avLst>
          </a:prstGeom>
          <a:solidFill>
            <a:srgbClr val="161A21"/>
          </a:solidFill>
          <a:ln w="9525">
            <a:solidFill>
              <a:srgbClr val="242933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1024128" y="5266944"/>
            <a:ext cx="101434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3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Компания на 3 000 человек, 5 000 кандидатов в год:   </a:t>
            </a:r>
            <a:pPr indent="0" marL="0">
              <a:buNone/>
            </a:pPr>
            <a:r>
              <a:rPr lang="en-US" sz="1700" b="1" dirty="0">
                <a:solidFill>
                  <a:srgbClr val="F2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≈4 млн ₸ экономии</a:t>
            </a:r>
            <a:pPr indent="0" marL="0">
              <a:buNone/>
            </a:pPr>
            <a:r>
              <a:rPr lang="en-US" sz="1500" dirty="0">
                <a:solidFill>
                  <a:srgbClr val="5F68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·   </a:t>
            </a:r>
            <a:pPr indent="0" marL="0">
              <a:buNone/>
            </a:pPr>
            <a:r>
              <a:rPr lang="en-US" sz="1700" b="1" dirty="0">
                <a:solidFill>
                  <a:srgbClr val="E880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1,75 млн ₸ выручки нам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1024128" y="5724144"/>
            <a:ext cx="101434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3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Окупаемость для клиента — с первой закрытой вакансии. Экономия растёт линейно с объёмом найма.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713232" y="6199632"/>
            <a:ext cx="1076523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5F68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Модель, а не факт: ставка часа рекрутера = средняя з/п по РК 461 486 ₸ (БНС, I кв. 2026) / 168 ч ≈ 2 750 ₸. Длительность этапов — наше допущение, проверяем на пилотах.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hiteBoxAI_5\whitebox-ai\public\textures\contour.jpeg">    </p:cNvPr>
          <p:cNvPicPr>
            <a:picLocks noChangeAspect="1"/>
          </p:cNvPicPr>
          <p:nvPr/>
        </p:nvPicPr>
        <p:blipFill>
          <a:blip r:embed="rId1">
            <a:alphaModFix amt="8000"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D:\WhiteBoxAI_5\deck\assets\cube-fla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420624"/>
            <a:ext cx="274320" cy="2743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115568" y="44805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20" kern="0" dirty="0">
                <a:solidFill>
                  <a:srgbClr val="9AA3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МОНЕТИЗАЦИЯ И РЫНОК</a:t>
            </a:r>
            <a:endParaRPr lang="en-US" sz="1000" dirty="0"/>
          </a:p>
        </p:txBody>
      </p:sp>
      <p:sp>
        <p:nvSpPr>
          <p:cNvPr id="5" name="Text 1"/>
          <p:cNvSpPr/>
          <p:nvPr/>
        </p:nvSpPr>
        <p:spPr>
          <a:xfrm>
            <a:off x="10381183" y="448056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20" kern="0" dirty="0">
                <a:solidFill>
                  <a:srgbClr val="5F68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000" dirty="0"/>
          </a:p>
        </p:txBody>
      </p:sp>
      <p:sp>
        <p:nvSpPr>
          <p:cNvPr id="6" name="Shape 2"/>
          <p:cNvSpPr/>
          <p:nvPr/>
        </p:nvSpPr>
        <p:spPr>
          <a:xfrm>
            <a:off x="713232" y="841248"/>
            <a:ext cx="10765231" cy="0"/>
          </a:xfrm>
          <a:prstGeom prst="line">
            <a:avLst/>
          </a:prstGeom>
          <a:noFill/>
          <a:ln w="12700">
            <a:solidFill>
              <a:srgbClr val="1B1F27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713232" y="1097280"/>
            <a:ext cx="1076523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944"/>
              </a:lnSpc>
              <a:buNone/>
            </a:pPr>
            <a:r>
              <a:rPr lang="en-US" sz="3400" dirty="0">
                <a:solidFill>
                  <a:srgbClr val="F2F4F8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Платят за пропускную способность,</a:t>
            </a:r>
            <a:endParaRPr lang="en-US" sz="3400" dirty="0"/>
          </a:p>
          <a:p>
            <a:pPr indent="0" marL="0">
              <a:lnSpc>
                <a:spcPts val="3944"/>
              </a:lnSpc>
              <a:buNone/>
            </a:pPr>
            <a:r>
              <a:rPr lang="en-US" sz="3400" dirty="0">
                <a:solidFill>
                  <a:srgbClr val="F2F4F8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а не за лицензии</a:t>
            </a:r>
            <a:endParaRPr lang="en-US" sz="3400" dirty="0"/>
          </a:p>
        </p:txBody>
      </p:sp>
      <p:sp>
        <p:nvSpPr>
          <p:cNvPr id="8" name="Shape 4"/>
          <p:cNvSpPr/>
          <p:nvPr/>
        </p:nvSpPr>
        <p:spPr>
          <a:xfrm>
            <a:off x="713232" y="2670048"/>
            <a:ext cx="5358384" cy="2578608"/>
          </a:xfrm>
          <a:prstGeom prst="roundRect">
            <a:avLst>
              <a:gd name="adj" fmla="val 2128"/>
            </a:avLst>
          </a:prstGeom>
          <a:solidFill>
            <a:srgbClr val="101217"/>
          </a:solidFill>
          <a:ln w="9525">
            <a:solidFill>
              <a:srgbClr val="242933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987552" y="288950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20" kern="0" dirty="0">
                <a:solidFill>
                  <a:srgbClr val="9AA3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МОДЕЛЬ ВЫРУЧКИ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987552" y="3337560"/>
            <a:ext cx="50292" cy="146304"/>
          </a:xfrm>
          <a:prstGeom prst="rect">
            <a:avLst/>
          </a:prstGeom>
          <a:solidFill>
            <a:srgbClr val="E8804F"/>
          </a:solidFill>
          <a:ln w="12700">
            <a:solidFill>
              <a:srgbClr val="E8804F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1170432" y="3218688"/>
            <a:ext cx="46268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3"/>
              </a:lnSpc>
              <a:buNone/>
            </a:pPr>
            <a:r>
              <a:rPr lang="en-US" sz="1150" dirty="0">
                <a:solidFill>
                  <a:srgbClr val="9AA3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350 ₸ за прогон кандидата — растёт вместе с наймом клиента, платит только за пройденные интервью.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987552" y="3995928"/>
            <a:ext cx="50292" cy="146304"/>
          </a:xfrm>
          <a:prstGeom prst="rect">
            <a:avLst/>
          </a:prstGeom>
          <a:solidFill>
            <a:srgbClr val="E8804F"/>
          </a:solidFill>
          <a:ln w="12700">
            <a:solidFill>
              <a:srgbClr val="E8804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1170432" y="3877056"/>
            <a:ext cx="46268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3"/>
              </a:lnSpc>
              <a:buNone/>
            </a:pPr>
            <a:r>
              <a:rPr lang="en-US" sz="1150" dirty="0">
                <a:solidFill>
                  <a:srgbClr val="9AA3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Подписка на рабочее место рекрутера — доступ к воронке, сравнению и аналитике.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987552" y="4654296"/>
            <a:ext cx="50292" cy="146304"/>
          </a:xfrm>
          <a:prstGeom prst="rect">
            <a:avLst/>
          </a:prstGeom>
          <a:solidFill>
            <a:srgbClr val="E8804F"/>
          </a:solidFill>
          <a:ln w="12700">
            <a:solidFill>
              <a:srgbClr val="E8804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1170432" y="4535424"/>
            <a:ext cx="46268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3"/>
              </a:lnSpc>
              <a:buNone/>
            </a:pPr>
            <a:r>
              <a:rPr lang="en-US" sz="1150" dirty="0">
                <a:solidFill>
                  <a:srgbClr val="9AA3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Enterprise: SSO, хранение записей в РК, выгрузка аудит-логов, свои шкалы оценки.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291072" y="2670048"/>
            <a:ext cx="5358384" cy="2578608"/>
          </a:xfrm>
          <a:prstGeom prst="roundRect">
            <a:avLst>
              <a:gd name="adj" fmla="val 2128"/>
            </a:avLst>
          </a:prstGeom>
          <a:solidFill>
            <a:srgbClr val="101217"/>
          </a:solidFill>
          <a:ln w="9525">
            <a:solidFill>
              <a:srgbClr val="242933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565392" y="288950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20" kern="0" dirty="0">
                <a:solidFill>
                  <a:srgbClr val="9AA3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РЫНОК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6565392" y="3273552"/>
            <a:ext cx="4809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 · Казахстан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6565392" y="3529584"/>
            <a:ext cx="4809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3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≈2 000 средних юрлиц + крупный бизнес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6565392" y="3767328"/>
            <a:ext cx="4809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5F68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БНС, на 01.04.2026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6565392" y="3931920"/>
            <a:ext cx="4809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Расширение</a:t>
            </a:r>
            <a:endParaRPr lang="en-US" sz="1250" dirty="0"/>
          </a:p>
        </p:txBody>
      </p:sp>
      <p:sp>
        <p:nvSpPr>
          <p:cNvPr id="22" name="Text 18"/>
          <p:cNvSpPr/>
          <p:nvPr/>
        </p:nvSpPr>
        <p:spPr>
          <a:xfrm>
            <a:off x="6565392" y="4187952"/>
            <a:ext cx="4809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3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СНГ и рынки с русскоязычным наймом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6565392" y="4425696"/>
            <a:ext cx="4809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5F68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тот же продукт, та же боль</a:t>
            </a:r>
            <a:endParaRPr lang="en-US" sz="800" dirty="0"/>
          </a:p>
        </p:txBody>
      </p:sp>
      <p:sp>
        <p:nvSpPr>
          <p:cNvPr id="24" name="Text 20"/>
          <p:cNvSpPr/>
          <p:nvPr/>
        </p:nvSpPr>
        <p:spPr>
          <a:xfrm>
            <a:off x="6565392" y="4590288"/>
            <a:ext cx="4809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SOM · 3 года</a:t>
            </a:r>
            <a:endParaRPr lang="en-US" sz="1250" dirty="0"/>
          </a:p>
        </p:txBody>
      </p:sp>
      <p:sp>
        <p:nvSpPr>
          <p:cNvPr id="25" name="Text 21"/>
          <p:cNvSpPr/>
          <p:nvPr/>
        </p:nvSpPr>
        <p:spPr>
          <a:xfrm>
            <a:off x="6565392" y="4846320"/>
            <a:ext cx="4809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3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120 клиентов × 2 млн ₸ = 240 млн ₸ ARR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6565392" y="5084064"/>
            <a:ext cx="4809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5F68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наша цель</a:t>
            </a:r>
            <a:endParaRPr lang="en-US" sz="800" dirty="0"/>
          </a:p>
        </p:txBody>
      </p:sp>
      <p:sp>
        <p:nvSpPr>
          <p:cNvPr id="27" name="Shape 23"/>
          <p:cNvSpPr/>
          <p:nvPr/>
        </p:nvSpPr>
        <p:spPr>
          <a:xfrm>
            <a:off x="713232" y="5504688"/>
            <a:ext cx="10765231" cy="694944"/>
          </a:xfrm>
          <a:prstGeom prst="roundRect">
            <a:avLst>
              <a:gd name="adj" fmla="val 7895"/>
            </a:avLst>
          </a:prstGeom>
          <a:solidFill>
            <a:srgbClr val="161A21"/>
          </a:solidFill>
          <a:ln w="9525">
            <a:solidFill>
              <a:srgbClr val="6B3A22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1024128" y="5504688"/>
            <a:ext cx="10143439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Почему у нас купят: дешевле на кандидате, быстрее закрытие — и, в отличие от чёрного ящика, каждое решение можно объяснить кандидату и проверяющему.</a:t>
            </a:r>
            <a:endParaRPr lang="en-US" sz="1300" dirty="0"/>
          </a:p>
        </p:txBody>
      </p:sp>
      <p:sp>
        <p:nvSpPr>
          <p:cNvPr id="29" name="Text 25"/>
          <p:cNvSpPr/>
          <p:nvPr/>
        </p:nvSpPr>
        <p:spPr>
          <a:xfrm>
            <a:off x="713232" y="6199632"/>
            <a:ext cx="1076523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5F68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SAM: средние юрлица — 0,1% активных субъектов МСБ (БНС, на 01.04.2026), плюс крупные предприятия. SOM — наша цель, не прогноз рынка.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hiteBoxAI_5\whitebox-ai\public\textures\contour.jpeg">    </p:cNvPr>
          <p:cNvPicPr>
            <a:picLocks noChangeAspect="1"/>
          </p:cNvPicPr>
          <p:nvPr/>
        </p:nvPicPr>
        <p:blipFill>
          <a:blip r:embed="rId1">
            <a:alphaModFix amt="8000"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D:\WhiteBoxAI_5\deck\assets\cube-fla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420624"/>
            <a:ext cx="274320" cy="2743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115568" y="44805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20" kern="0" dirty="0">
                <a:solidFill>
                  <a:srgbClr val="9AA3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ПОЧЕМУ СЕЙЧАС</a:t>
            </a:r>
            <a:endParaRPr lang="en-US" sz="1000" dirty="0"/>
          </a:p>
        </p:txBody>
      </p:sp>
      <p:sp>
        <p:nvSpPr>
          <p:cNvPr id="5" name="Text 1"/>
          <p:cNvSpPr/>
          <p:nvPr/>
        </p:nvSpPr>
        <p:spPr>
          <a:xfrm>
            <a:off x="10381183" y="448056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20" kern="0" dirty="0">
                <a:solidFill>
                  <a:srgbClr val="5F68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000" dirty="0"/>
          </a:p>
        </p:txBody>
      </p:sp>
      <p:sp>
        <p:nvSpPr>
          <p:cNvPr id="6" name="Shape 2"/>
          <p:cNvSpPr/>
          <p:nvPr/>
        </p:nvSpPr>
        <p:spPr>
          <a:xfrm>
            <a:off x="713232" y="841248"/>
            <a:ext cx="10765231" cy="0"/>
          </a:xfrm>
          <a:prstGeom prst="line">
            <a:avLst/>
          </a:prstGeom>
          <a:noFill/>
          <a:ln w="12700">
            <a:solidFill>
              <a:srgbClr val="1B1F27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713232" y="1097280"/>
            <a:ext cx="1076523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944"/>
              </a:lnSpc>
              <a:buNone/>
            </a:pPr>
            <a:r>
              <a:rPr lang="en-US" sz="3400" dirty="0">
                <a:solidFill>
                  <a:srgbClr val="F2F4F8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Рынок идёт к объяснимости —</a:t>
            </a:r>
            <a:endParaRPr lang="en-US" sz="3400" dirty="0"/>
          </a:p>
          <a:p>
            <a:pPr indent="0" marL="0">
              <a:lnSpc>
                <a:spcPts val="3944"/>
              </a:lnSpc>
              <a:buNone/>
            </a:pPr>
            <a:r>
              <a:rPr lang="en-US" sz="3400" dirty="0">
                <a:solidFill>
                  <a:srgbClr val="F2F4F8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мы построены по этому требованию</a:t>
            </a:r>
            <a:endParaRPr lang="en-US" sz="3400" dirty="0"/>
          </a:p>
        </p:txBody>
      </p:sp>
      <p:sp>
        <p:nvSpPr>
          <p:cNvPr id="8" name="Shape 4"/>
          <p:cNvSpPr/>
          <p:nvPr/>
        </p:nvSpPr>
        <p:spPr>
          <a:xfrm>
            <a:off x="713232" y="2670048"/>
            <a:ext cx="3454298" cy="1847088"/>
          </a:xfrm>
          <a:prstGeom prst="roundRect">
            <a:avLst>
              <a:gd name="adj" fmla="val 2970"/>
            </a:avLst>
          </a:prstGeom>
          <a:solidFill>
            <a:srgbClr val="101217"/>
          </a:solidFill>
          <a:ln w="9525">
            <a:solidFill>
              <a:srgbClr val="242933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969264" y="2871216"/>
            <a:ext cx="29970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dirty="0">
                <a:solidFill>
                  <a:srgbClr val="E8804F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Annex III</a:t>
            </a:r>
            <a:endParaRPr lang="en-US" sz="3300" dirty="0"/>
          </a:p>
        </p:txBody>
      </p:sp>
      <p:sp>
        <p:nvSpPr>
          <p:cNvPr id="10" name="Text 6"/>
          <p:cNvSpPr/>
          <p:nvPr/>
        </p:nvSpPr>
        <p:spPr>
          <a:xfrm>
            <a:off x="969264" y="3419856"/>
            <a:ext cx="29970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A3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ИИ в найме отнесён к «высокому риску» в EU AI Act: обязательны надзор человека, логирование и проверка на предвзятость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969264" y="4133088"/>
            <a:ext cx="29970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5F68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EU AI Act, Annex III §4</a:t>
            </a:r>
            <a:endParaRPr lang="en-US" sz="800" dirty="0"/>
          </a:p>
        </p:txBody>
      </p:sp>
      <p:sp>
        <p:nvSpPr>
          <p:cNvPr id="12" name="Shape 8"/>
          <p:cNvSpPr/>
          <p:nvPr/>
        </p:nvSpPr>
        <p:spPr>
          <a:xfrm>
            <a:off x="4368698" y="2670048"/>
            <a:ext cx="3454298" cy="1847088"/>
          </a:xfrm>
          <a:prstGeom prst="roundRect">
            <a:avLst>
              <a:gd name="adj" fmla="val 2970"/>
            </a:avLst>
          </a:prstGeom>
          <a:solidFill>
            <a:srgbClr val="101217"/>
          </a:solidFill>
          <a:ln w="9525">
            <a:solidFill>
              <a:srgbClr val="242933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624730" y="2871216"/>
            <a:ext cx="29970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dirty="0">
                <a:solidFill>
                  <a:srgbClr val="F5B549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дек. 2027</a:t>
            </a:r>
            <a:endParaRPr lang="en-US" sz="3300" dirty="0"/>
          </a:p>
        </p:txBody>
      </p:sp>
      <p:sp>
        <p:nvSpPr>
          <p:cNvPr id="14" name="Text 10"/>
          <p:cNvSpPr/>
          <p:nvPr/>
        </p:nvSpPr>
        <p:spPr>
          <a:xfrm>
            <a:off x="4624730" y="3419856"/>
            <a:ext cx="29970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A3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срок вступления требований для высокого риска перенесён — у рынка появилось окно, чтобы подготовиться заранее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4624730" y="4133088"/>
            <a:ext cx="29970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5F68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 Omnibus, май 2026</a:t>
            </a:r>
            <a:endParaRPr lang="en-US" sz="800" dirty="0"/>
          </a:p>
        </p:txBody>
      </p:sp>
      <p:sp>
        <p:nvSpPr>
          <p:cNvPr id="16" name="Shape 12"/>
          <p:cNvSpPr/>
          <p:nvPr/>
        </p:nvSpPr>
        <p:spPr>
          <a:xfrm>
            <a:off x="8024165" y="2670048"/>
            <a:ext cx="3454298" cy="1847088"/>
          </a:xfrm>
          <a:prstGeom prst="roundRect">
            <a:avLst>
              <a:gd name="adj" fmla="val 2970"/>
            </a:avLst>
          </a:prstGeom>
          <a:solidFill>
            <a:srgbClr val="101217"/>
          </a:solidFill>
          <a:ln w="9525">
            <a:solidFill>
              <a:srgbClr val="242933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280197" y="2871216"/>
            <a:ext cx="29970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dirty="0">
                <a:solidFill>
                  <a:srgbClr val="F2F4F8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до 7%</a:t>
            </a:r>
            <a:endParaRPr lang="en-US" sz="3300" dirty="0"/>
          </a:p>
        </p:txBody>
      </p:sp>
      <p:sp>
        <p:nvSpPr>
          <p:cNvPr id="18" name="Text 14"/>
          <p:cNvSpPr/>
          <p:nvPr/>
        </p:nvSpPr>
        <p:spPr>
          <a:xfrm>
            <a:off x="8280197" y="3419856"/>
            <a:ext cx="29970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A3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оборота — верхняя планка штрафов за нарушение; цена непрозрачного решения растёт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8280197" y="4133088"/>
            <a:ext cx="29970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5F68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EU AI Act, санкции</a:t>
            </a:r>
            <a:endParaRPr lang="en-US" sz="800" dirty="0"/>
          </a:p>
        </p:txBody>
      </p:sp>
      <p:sp>
        <p:nvSpPr>
          <p:cNvPr id="20" name="Shape 16"/>
          <p:cNvSpPr/>
          <p:nvPr/>
        </p:nvSpPr>
        <p:spPr>
          <a:xfrm>
            <a:off x="713232" y="4910328"/>
            <a:ext cx="50292" cy="146304"/>
          </a:xfrm>
          <a:prstGeom prst="rect">
            <a:avLst/>
          </a:prstGeom>
          <a:solidFill>
            <a:srgbClr val="E8804F"/>
          </a:solidFill>
          <a:ln w="12700">
            <a:solidFill>
              <a:srgbClr val="E8804F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896112" y="4791456"/>
            <a:ext cx="1058235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9AA3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Мы не докручиваем объяснимость поверх готовой модели — продукт с самого начала собран так: доказательство к каждому баллу, обязательное решение человека, аудит-след на хешах.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713232" y="5623560"/>
            <a:ext cx="50292" cy="146304"/>
          </a:xfrm>
          <a:prstGeom prst="rect">
            <a:avLst/>
          </a:prstGeom>
          <a:solidFill>
            <a:srgbClr val="E8804F"/>
          </a:solidFill>
          <a:ln w="12700">
            <a:solidFill>
              <a:srgbClr val="E8804F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896112" y="5504688"/>
            <a:ext cx="1058235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9AA3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Для Казахстана это ещё и вопрос доверия кандидата и защиты работодателя, а не только регуляторики.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713232" y="6199632"/>
            <a:ext cx="1076523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5F68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Источник: текст EU AI Act (Annex III, раздел 4) и пакет Digital Omnibus (май 2026) о переносе сроков. Прямых требований такого рода в РК пока нет — мы закладываем стандарт заранее.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hiteBoxAI_5\whitebox-ai\public\textures\contour.jpeg">    </p:cNvPr>
          <p:cNvPicPr>
            <a:picLocks noChangeAspect="1"/>
          </p:cNvPicPr>
          <p:nvPr/>
        </p:nvPicPr>
        <p:blipFill>
          <a:blip r:embed="rId1">
            <a:alphaModFix amt="8000"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D:\WhiteBoxAI_5\deck\assets\cube-fla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420624"/>
            <a:ext cx="274320" cy="2743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115568" y="44805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20" kern="0" dirty="0">
                <a:solidFill>
                  <a:srgbClr val="9AA3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СТАТУС · ДОРОЖНАЯ КАРТА · ЗАПРОС</a:t>
            </a:r>
            <a:endParaRPr lang="en-US" sz="1000" dirty="0"/>
          </a:p>
        </p:txBody>
      </p:sp>
      <p:sp>
        <p:nvSpPr>
          <p:cNvPr id="5" name="Text 1"/>
          <p:cNvSpPr/>
          <p:nvPr/>
        </p:nvSpPr>
        <p:spPr>
          <a:xfrm>
            <a:off x="10381183" y="448056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20" kern="0" dirty="0">
                <a:solidFill>
                  <a:srgbClr val="5F68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000" dirty="0"/>
          </a:p>
        </p:txBody>
      </p:sp>
      <p:sp>
        <p:nvSpPr>
          <p:cNvPr id="6" name="Shape 2"/>
          <p:cNvSpPr/>
          <p:nvPr/>
        </p:nvSpPr>
        <p:spPr>
          <a:xfrm>
            <a:off x="713232" y="841248"/>
            <a:ext cx="10765231" cy="0"/>
          </a:xfrm>
          <a:prstGeom prst="line">
            <a:avLst/>
          </a:prstGeom>
          <a:noFill/>
          <a:ln w="12700">
            <a:solidFill>
              <a:srgbClr val="1B1F27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713232" y="1097280"/>
            <a:ext cx="1076523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944"/>
              </a:lnSpc>
              <a:buNone/>
            </a:pPr>
            <a:r>
              <a:rPr lang="en-US" sz="3400" dirty="0">
                <a:solidFill>
                  <a:srgbClr val="F2F4F8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Продукт работает сегодня</a:t>
            </a:r>
            <a:endParaRPr lang="en-US" sz="3400" dirty="0"/>
          </a:p>
        </p:txBody>
      </p:sp>
      <p:sp>
        <p:nvSpPr>
          <p:cNvPr id="8" name="Shape 4"/>
          <p:cNvSpPr/>
          <p:nvPr/>
        </p:nvSpPr>
        <p:spPr>
          <a:xfrm>
            <a:off x="713232" y="2670048"/>
            <a:ext cx="3454298" cy="1700784"/>
          </a:xfrm>
          <a:prstGeom prst="roundRect">
            <a:avLst>
              <a:gd name="adj" fmla="val 3226"/>
            </a:avLst>
          </a:prstGeom>
          <a:solidFill>
            <a:srgbClr val="101217"/>
          </a:solidFill>
          <a:ln w="9525">
            <a:solidFill>
              <a:srgbClr val="242933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969264" y="2871216"/>
            <a:ext cx="29970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dirty="0">
                <a:solidFill>
                  <a:srgbClr val="4ADE80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Работает</a:t>
            </a:r>
            <a:endParaRPr lang="en-US" sz="3300" dirty="0"/>
          </a:p>
        </p:txBody>
      </p:sp>
      <p:sp>
        <p:nvSpPr>
          <p:cNvPr id="10" name="Text 6"/>
          <p:cNvSpPr/>
          <p:nvPr/>
        </p:nvSpPr>
        <p:spPr>
          <a:xfrm>
            <a:off x="969264" y="3419856"/>
            <a:ext cx="29970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A3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полный путь: создание вакансии → интервью → оценка → решение с аудит-следом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4368698" y="2670048"/>
            <a:ext cx="3454298" cy="1700784"/>
          </a:xfrm>
          <a:prstGeom prst="roundRect">
            <a:avLst>
              <a:gd name="adj" fmla="val 3226"/>
            </a:avLst>
          </a:prstGeom>
          <a:solidFill>
            <a:srgbClr val="101217"/>
          </a:solidFill>
          <a:ln w="9525">
            <a:solidFill>
              <a:srgbClr val="242933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624730" y="2871216"/>
            <a:ext cx="29970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dirty="0">
                <a:solidFill>
                  <a:srgbClr val="F2F4F8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1 минута</a:t>
            </a:r>
            <a:endParaRPr lang="en-US" sz="3300" dirty="0"/>
          </a:p>
        </p:txBody>
      </p:sp>
      <p:sp>
        <p:nvSpPr>
          <p:cNvPr id="13" name="Text 9"/>
          <p:cNvSpPr/>
          <p:nvPr/>
        </p:nvSpPr>
        <p:spPr>
          <a:xfrm>
            <a:off x="4624730" y="3419856"/>
            <a:ext cx="29970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A3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от текста руководителя до опубликованной вакансии с критериями и планом интервью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024165" y="2670048"/>
            <a:ext cx="3454298" cy="1700784"/>
          </a:xfrm>
          <a:prstGeom prst="roundRect">
            <a:avLst>
              <a:gd name="adj" fmla="val 3226"/>
            </a:avLst>
          </a:prstGeom>
          <a:solidFill>
            <a:srgbClr val="101217"/>
          </a:solidFill>
          <a:ln w="9525">
            <a:solidFill>
              <a:srgbClr val="242933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280197" y="2871216"/>
            <a:ext cx="29970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dirty="0">
                <a:solidFill>
                  <a:srgbClr val="E8804F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5 пилотов</a:t>
            </a:r>
            <a:endParaRPr lang="en-US" sz="3300" dirty="0"/>
          </a:p>
        </p:txBody>
      </p:sp>
      <p:sp>
        <p:nvSpPr>
          <p:cNvPr id="16" name="Text 12"/>
          <p:cNvSpPr/>
          <p:nvPr/>
        </p:nvSpPr>
        <p:spPr>
          <a:xfrm>
            <a:off x="8280197" y="3419856"/>
            <a:ext cx="29970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A3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цель ближайшего квартала: платные пилоты в компаниях с массовым наймом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713232" y="4626864"/>
            <a:ext cx="5358384" cy="1536192"/>
          </a:xfrm>
          <a:prstGeom prst="roundRect">
            <a:avLst>
              <a:gd name="adj" fmla="val 3571"/>
            </a:avLst>
          </a:prstGeom>
          <a:solidFill>
            <a:srgbClr val="101217"/>
          </a:solidFill>
          <a:ln w="9525">
            <a:solidFill>
              <a:srgbClr val="242933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987552" y="4846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20" kern="0" dirty="0">
                <a:solidFill>
                  <a:srgbClr val="9AA3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БЛИЖАЙШИЕ 6 МЕСЯЦЕВ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987552" y="5294376"/>
            <a:ext cx="50292" cy="146304"/>
          </a:xfrm>
          <a:prstGeom prst="rect">
            <a:avLst/>
          </a:prstGeom>
          <a:solidFill>
            <a:srgbClr val="E8804F"/>
          </a:solidFill>
          <a:ln w="12700">
            <a:solidFill>
              <a:srgbClr val="E8804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1170432" y="5175504"/>
            <a:ext cx="46268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3"/>
              </a:lnSpc>
              <a:buNone/>
            </a:pPr>
            <a:r>
              <a:rPr lang="en-US" sz="1150" dirty="0">
                <a:solidFill>
                  <a:srgbClr val="9AA3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Пилоты и первые платящие клиенты в РК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987552" y="5605272"/>
            <a:ext cx="50292" cy="146304"/>
          </a:xfrm>
          <a:prstGeom prst="rect">
            <a:avLst/>
          </a:prstGeom>
          <a:solidFill>
            <a:srgbClr val="E8804F"/>
          </a:solidFill>
          <a:ln w="12700">
            <a:solidFill>
              <a:srgbClr val="E8804F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1170432" y="5486400"/>
            <a:ext cx="46268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3"/>
              </a:lnSpc>
              <a:buNone/>
            </a:pPr>
            <a:r>
              <a:rPr lang="en-US" sz="1150" dirty="0">
                <a:solidFill>
                  <a:srgbClr val="9AA3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Интеграции с ATS и кадровыми системами</a:t>
            </a:r>
            <a:endParaRPr lang="en-US" sz="1150" dirty="0"/>
          </a:p>
        </p:txBody>
      </p:sp>
      <p:sp>
        <p:nvSpPr>
          <p:cNvPr id="23" name="Shape 19"/>
          <p:cNvSpPr/>
          <p:nvPr/>
        </p:nvSpPr>
        <p:spPr>
          <a:xfrm>
            <a:off x="987552" y="5916168"/>
            <a:ext cx="50292" cy="146304"/>
          </a:xfrm>
          <a:prstGeom prst="rect">
            <a:avLst/>
          </a:prstGeom>
          <a:solidFill>
            <a:srgbClr val="E8804F"/>
          </a:solidFill>
          <a:ln w="12700">
            <a:solidFill>
              <a:srgbClr val="E8804F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1170432" y="5797296"/>
            <a:ext cx="46268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3"/>
              </a:lnSpc>
              <a:buNone/>
            </a:pPr>
            <a:r>
              <a:rPr lang="en-US" sz="1150" dirty="0">
                <a:solidFill>
                  <a:srgbClr val="9AA3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Отраслевые шаблоны критериев оценки</a:t>
            </a:r>
            <a:endParaRPr lang="en-US" sz="1150" dirty="0"/>
          </a:p>
        </p:txBody>
      </p:sp>
      <p:sp>
        <p:nvSpPr>
          <p:cNvPr id="25" name="Shape 21"/>
          <p:cNvSpPr/>
          <p:nvPr/>
        </p:nvSpPr>
        <p:spPr>
          <a:xfrm>
            <a:off x="6291072" y="4626864"/>
            <a:ext cx="5358384" cy="1536192"/>
          </a:xfrm>
          <a:prstGeom prst="roundRect">
            <a:avLst>
              <a:gd name="adj" fmla="val 3571"/>
            </a:avLst>
          </a:prstGeom>
          <a:solidFill>
            <a:srgbClr val="161A21"/>
          </a:solidFill>
          <a:ln w="9525">
            <a:solidFill>
              <a:srgbClr val="6B3A22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6565392" y="4846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20" kern="0" dirty="0">
                <a:solidFill>
                  <a:srgbClr val="E880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ЗАПРОС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6565392" y="5193792"/>
            <a:ext cx="48097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2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Доступ к HR-командам для пилотов и партнёрам по внедрению — нам нужны реальные воронки найма, чтобы подтвердить экономию на данных клиента.</a:t>
            </a:r>
            <a:endParaRPr lang="en-US" sz="1300" dirty="0"/>
          </a:p>
        </p:txBody>
      </p:sp>
      <p:sp>
        <p:nvSpPr>
          <p:cNvPr id="28" name="Text 24"/>
          <p:cNvSpPr/>
          <p:nvPr/>
        </p:nvSpPr>
        <p:spPr>
          <a:xfrm>
            <a:off x="713232" y="6199632"/>
            <a:ext cx="1076523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5F68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«5 пилотов» — цель, а не текущий факт.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hiteBoxAI_5\whitebox-ai\public\textures\contour.jpeg">    </p:cNvPr>
          <p:cNvPicPr>
            <a:picLocks noChangeAspect="1"/>
          </p:cNvPicPr>
          <p:nvPr/>
        </p:nvPicPr>
        <p:blipFill>
          <a:blip r:embed="rId1">
            <a:alphaModFix amt="8000"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D:\WhiteBoxAI_5\deck\assets\cube-fla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420624"/>
            <a:ext cx="274320" cy="2743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115568" y="44805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20" kern="0" dirty="0">
                <a:solidFill>
                  <a:srgbClr val="9AA3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ПРИЛОЖЕНИЕ · ИСТОЧНИКИ</a:t>
            </a:r>
            <a:endParaRPr lang="en-US" sz="1000" dirty="0"/>
          </a:p>
        </p:txBody>
      </p:sp>
      <p:sp>
        <p:nvSpPr>
          <p:cNvPr id="5" name="Text 1"/>
          <p:cNvSpPr/>
          <p:nvPr/>
        </p:nvSpPr>
        <p:spPr>
          <a:xfrm>
            <a:off x="10381183" y="448056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20" kern="0" dirty="0">
                <a:solidFill>
                  <a:srgbClr val="5F68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000" dirty="0"/>
          </a:p>
        </p:txBody>
      </p:sp>
      <p:sp>
        <p:nvSpPr>
          <p:cNvPr id="6" name="Shape 2"/>
          <p:cNvSpPr/>
          <p:nvPr/>
        </p:nvSpPr>
        <p:spPr>
          <a:xfrm>
            <a:off x="713232" y="841248"/>
            <a:ext cx="10765231" cy="0"/>
          </a:xfrm>
          <a:prstGeom prst="line">
            <a:avLst/>
          </a:prstGeom>
          <a:noFill/>
          <a:ln w="12700">
            <a:solidFill>
              <a:srgbClr val="1B1F27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713232" y="1097280"/>
            <a:ext cx="1076523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8"/>
              </a:lnSpc>
              <a:buNone/>
            </a:pPr>
            <a:r>
              <a:rPr lang="en-US" sz="2800" dirty="0">
                <a:solidFill>
                  <a:srgbClr val="F2F4F8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Откуда цифры</a:t>
            </a:r>
            <a:endParaRPr lang="en-US" sz="2800" dirty="0"/>
          </a:p>
        </p:txBody>
      </p:sp>
      <p:sp>
        <p:nvSpPr>
          <p:cNvPr id="8" name="Shape 4"/>
          <p:cNvSpPr/>
          <p:nvPr/>
        </p:nvSpPr>
        <p:spPr>
          <a:xfrm>
            <a:off x="713232" y="2468880"/>
            <a:ext cx="50292" cy="146304"/>
          </a:xfrm>
          <a:prstGeom prst="rect">
            <a:avLst/>
          </a:prstGeom>
          <a:solidFill>
            <a:srgbClr val="E880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914400" y="2395728"/>
            <a:ext cx="105640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Средняя зарплата в РК, I кв. 2026 — 461 486 ₸ (медианная 331 527 ₸)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914400" y="2670048"/>
            <a:ext cx="1056406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20" kern="0" dirty="0">
                <a:solidFill>
                  <a:srgbClr val="5F68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Бюро национальной статистики РК · stat.gov.kz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713232" y="3182112"/>
            <a:ext cx="50292" cy="146304"/>
          </a:xfrm>
          <a:prstGeom prst="rect">
            <a:avLst/>
          </a:prstGeom>
          <a:solidFill>
            <a:srgbClr val="E880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914400" y="3108960"/>
            <a:ext cx="105640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Стоимость найма $4 129 и срок закрытия ~45 дней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914400" y="3383280"/>
            <a:ext cx="1056406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20" kern="0" dirty="0">
                <a:solidFill>
                  <a:srgbClr val="5F68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SHRM Benchmarking Report · shrm.org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713232" y="3895344"/>
            <a:ext cx="50292" cy="146304"/>
          </a:xfrm>
          <a:prstGeom prst="rect">
            <a:avLst/>
          </a:prstGeom>
          <a:solidFill>
            <a:srgbClr val="E880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914400" y="3822192"/>
            <a:ext cx="105640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Количество субъектов бизнеса РК, средние юрлица — 0,1% активных МСБ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914400" y="4096512"/>
            <a:ext cx="1056406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20" kern="0" dirty="0">
                <a:solidFill>
                  <a:srgbClr val="5F68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Бюро национальной статистики РК, на 01.04.2026 · stat.gov.kz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713232" y="4608576"/>
            <a:ext cx="50292" cy="146304"/>
          </a:xfrm>
          <a:prstGeom prst="rect">
            <a:avLst/>
          </a:prstGeom>
          <a:solidFill>
            <a:srgbClr val="E880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914400" y="4535424"/>
            <a:ext cx="105640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ИИ в найме — высокий риск (Annex III §4), штрафы до 7% оборота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914400" y="4809744"/>
            <a:ext cx="1056406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20" kern="0" dirty="0">
                <a:solidFill>
                  <a:srgbClr val="5F68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EU AI Act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713232" y="5321808"/>
            <a:ext cx="50292" cy="146304"/>
          </a:xfrm>
          <a:prstGeom prst="rect">
            <a:avLst/>
          </a:prstGeom>
          <a:solidFill>
            <a:srgbClr val="E880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914400" y="5248656"/>
            <a:ext cx="105640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Перенос срока по высокому риску на 02.12.2027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914400" y="5522976"/>
            <a:ext cx="1056406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20" kern="0" dirty="0">
                <a:solidFill>
                  <a:srgbClr val="5F68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 Omnibus, май 2026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713232" y="6199632"/>
            <a:ext cx="1076523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5F68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Расчёты, помеченные как «модель», построены на этих источниках и наших допущениях по длительности этапов — они проверяются на пилотах, а не заявляются как факт.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hiteBoxAI_5\whitebox-ai\public\textures\contour-hud.jpe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D:\WhiteBoxAI_5\deck\assets\cube-fla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420624"/>
            <a:ext cx="274320" cy="2743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115568" y="44805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20" kern="0" dirty="0">
                <a:solidFill>
                  <a:srgbClr val="9AA3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ДЕМО</a:t>
            </a:r>
            <a:endParaRPr lang="en-US" sz="1000" dirty="0"/>
          </a:p>
        </p:txBody>
      </p:sp>
      <p:sp>
        <p:nvSpPr>
          <p:cNvPr id="5" name="Text 1"/>
          <p:cNvSpPr/>
          <p:nvPr/>
        </p:nvSpPr>
        <p:spPr>
          <a:xfrm>
            <a:off x="10381183" y="448056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20" kern="0" dirty="0">
                <a:solidFill>
                  <a:srgbClr val="5F68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1000" dirty="0"/>
          </a:p>
        </p:txBody>
      </p:sp>
      <p:sp>
        <p:nvSpPr>
          <p:cNvPr id="6" name="Shape 2"/>
          <p:cNvSpPr/>
          <p:nvPr/>
        </p:nvSpPr>
        <p:spPr>
          <a:xfrm>
            <a:off x="713232" y="841248"/>
            <a:ext cx="10765231" cy="0"/>
          </a:xfrm>
          <a:prstGeom prst="line">
            <a:avLst/>
          </a:prstGeom>
          <a:noFill/>
          <a:ln w="12700">
            <a:solidFill>
              <a:srgbClr val="1B1F27"/>
            </a:solidFill>
            <a:prstDash val="solid"/>
          </a:ln>
        </p:spPr>
      </p:sp>
      <p:pic>
        <p:nvPicPr>
          <p:cNvPr id="7" name="Image 2" descr="D:\WhiteBoxAI_5\deck\assets\cub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3931920"/>
            <a:ext cx="2377440" cy="237744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13232" y="2011680"/>
            <a:ext cx="1076523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6264"/>
              </a:lnSpc>
              <a:buNone/>
            </a:pPr>
            <a:r>
              <a:rPr lang="en-US" sz="5400" dirty="0">
                <a:solidFill>
                  <a:srgbClr val="F2F4F8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Смотрите сами</a:t>
            </a:r>
            <a:endParaRPr lang="en-US" sz="5400" dirty="0"/>
          </a:p>
        </p:txBody>
      </p:sp>
      <p:sp>
        <p:nvSpPr>
          <p:cNvPr id="9" name="Text 4"/>
          <p:cNvSpPr/>
          <p:nvPr/>
        </p:nvSpPr>
        <p:spPr>
          <a:xfrm>
            <a:off x="713232" y="3310128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1900" dirty="0">
                <a:solidFill>
                  <a:srgbClr val="9AA3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Вакансия → интервью → решение с доказательствами.</a:t>
            </a:r>
            <a:endParaRPr lang="en-US" sz="19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900" dirty="0">
                <a:solidFill>
                  <a:srgbClr val="9AA3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Запись реального прогона: 90 секунд.</a:t>
            </a:r>
            <a:endParaRPr lang="en-US" sz="1900" dirty="0"/>
          </a:p>
        </p:txBody>
      </p:sp>
      <p:sp>
        <p:nvSpPr>
          <p:cNvPr id="10" name="Shape 5"/>
          <p:cNvSpPr/>
          <p:nvPr/>
        </p:nvSpPr>
        <p:spPr>
          <a:xfrm>
            <a:off x="713232" y="4626864"/>
            <a:ext cx="3108960" cy="29261"/>
          </a:xfrm>
          <a:prstGeom prst="rect">
            <a:avLst/>
          </a:prstGeom>
          <a:solidFill>
            <a:srgbClr val="E880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713232" y="4882896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120" kern="0" dirty="0">
                <a:solidFill>
                  <a:srgbClr val="5F68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ВАКАНСИЮ ПИШЕТ МОДЕЛЬ · ИНТЕРВЬЮ И РАСШИФРОВКА НАСТОЯЩИЕ · ОЦЕНКА ИЗ ПРОДУКТА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WhiteBox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WhiteBox AI — National Founder Cup 2026</dc:title>
  <dc:subject>PptxGenJS Presentation</dc:subject>
  <dc:creator>WhiteBox AI</dc:creator>
  <cp:lastModifiedBy>WhiteBox AI</cp:lastModifiedBy>
  <cp:revision>1</cp:revision>
  <dcterms:created xsi:type="dcterms:W3CDTF">2026-08-02T07:34:10Z</dcterms:created>
  <dcterms:modified xsi:type="dcterms:W3CDTF">2026-08-02T07:34:10Z</dcterms:modified>
</cp:coreProperties>
</file>